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61" r:id="rId4"/>
    <p:sldId id="262" r:id="rId5"/>
  </p:sldIdLst>
  <p:sldSz cx="12192000" cy="6858000"/>
  <p:notesSz cx="6858000" cy="9144000"/>
  <p:embeddedFontLst>
    <p:embeddedFont>
      <p:font typeface="Open Sans" panose="020B0606030504020204" pitchFamily="34" charset="0"/>
      <p:regular r:id="rId7"/>
      <p:bold r:id="rId8"/>
      <p:italic r:id="rId9"/>
      <p:boldItalic r:id="rId10"/>
    </p:embeddedFont>
    <p:embeddedFont>
      <p:font typeface="Play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MusfMjlaeuJxr+lg9Z8MGNu4G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 amt="19000"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87" y="6156434"/>
            <a:ext cx="843278" cy="67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4">
            <a:alphaModFix/>
          </a:blip>
          <a:srcRect r="25368"/>
          <a:stretch/>
        </p:blipFill>
        <p:spPr>
          <a:xfrm>
            <a:off x="792128" y="6551876"/>
            <a:ext cx="5926110" cy="32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4">
            <a:alphaModFix/>
          </a:blip>
          <a:srcRect l="22217" r="8701"/>
          <a:stretch/>
        </p:blipFill>
        <p:spPr>
          <a:xfrm>
            <a:off x="5160733" y="6551516"/>
            <a:ext cx="6114558" cy="32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91181" y="6074198"/>
            <a:ext cx="971765" cy="77669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/>
          <p:nvPr/>
        </p:nvSpPr>
        <p:spPr>
          <a:xfrm>
            <a:off x="1484295" y="6580973"/>
            <a:ext cx="66816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 dirty="0">
                <a:solidFill>
                  <a:srgbClr val="43AFE2"/>
                </a:solidFill>
                <a:latin typeface="Arial"/>
                <a:ea typeface="Arial"/>
                <a:cs typeface="Arial"/>
                <a:sym typeface="Arial"/>
              </a:rPr>
              <a:t>23-27 August 2026 – BioSB Summer School on Advanced Machine Learning and AI for Life Sciences</a:t>
            </a:r>
            <a:endParaRPr sz="1100" b="0" i="0" u="none" strike="noStrike" cap="none" dirty="0">
              <a:solidFill>
                <a:srgbClr val="43AFE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87" y="6156434"/>
            <a:ext cx="843278" cy="67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3">
            <a:alphaModFix/>
          </a:blip>
          <a:srcRect r="25368"/>
          <a:stretch/>
        </p:blipFill>
        <p:spPr>
          <a:xfrm>
            <a:off x="792128" y="6551876"/>
            <a:ext cx="5926110" cy="32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 l="22217" r="8701"/>
          <a:stretch/>
        </p:blipFill>
        <p:spPr>
          <a:xfrm>
            <a:off x="5160733" y="6551516"/>
            <a:ext cx="6114558" cy="32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91181" y="6074198"/>
            <a:ext cx="971765" cy="77669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9"/>
          <p:cNvSpPr txBox="1"/>
          <p:nvPr/>
        </p:nvSpPr>
        <p:spPr>
          <a:xfrm>
            <a:off x="1484295" y="6580973"/>
            <a:ext cx="63000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43AFE2"/>
                </a:solidFill>
                <a:latin typeface="Arial"/>
                <a:ea typeface="Arial"/>
                <a:cs typeface="Arial"/>
                <a:sym typeface="Arial"/>
              </a:rPr>
              <a:t>22-26 June 2026 – BioSB course: Multi-Omics and Data Sciences in Complex Diseases </a:t>
            </a:r>
            <a:endParaRPr sz="1100" b="0" i="0" u="none" strike="noStrike" cap="none">
              <a:solidFill>
                <a:srgbClr val="43AFE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tls.nl/biosb/cours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239252" y="1014550"/>
            <a:ext cx="86637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BioSB </a:t>
            </a:r>
            <a:r>
              <a:rPr lang="en-GB" sz="1800" b="1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Summer School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‘</a:t>
            </a:r>
            <a:r>
              <a:rPr lang="en-GB" sz="2400" b="1" dirty="0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Advanced Machine Learning and AI for Life Sciences</a:t>
            </a:r>
            <a:r>
              <a:rPr lang="en-GB" sz="2400" b="1" i="0" u="none" strike="noStrike" cap="none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’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206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This course is made possible thanks to support of the TDCC-LSH</a:t>
            </a:r>
            <a:endParaRPr sz="1800" b="1" i="0" u="none" strike="noStrike" cap="none" dirty="0">
              <a:solidFill>
                <a:srgbClr val="00206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5040" y="875190"/>
            <a:ext cx="1481058" cy="1191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43108" y="2290952"/>
            <a:ext cx="2968852" cy="25005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231479" y="3089785"/>
            <a:ext cx="6728155" cy="103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Ministry of Education, Culture and Science, 2022: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3125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Noto Sans Symbols"/>
              <a:buChar char="⮚"/>
            </a:pPr>
            <a:r>
              <a:rPr lang="en-GB" sz="1600" b="0" i="0" u="none" strike="noStrike" cap="non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10 year project funding for three Thematic Digital Competence Centres (3 TDCCs) that focus on domain specific challenges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75228" y="4243141"/>
            <a:ext cx="4978961" cy="1505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96AAB6-93CF-21B1-AD71-B31ECDFAA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7501" y="5016001"/>
            <a:ext cx="2111847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703" y="1739105"/>
            <a:ext cx="2750367" cy="24452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654074" y="473859"/>
            <a:ext cx="1111232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BioSB - </a:t>
            </a:r>
            <a:r>
              <a:rPr lang="en-GB" sz="2800" b="1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Bioinformatics and Systems Biology research school		</a:t>
            </a:r>
            <a:endParaRPr sz="3200" b="1" i="0" u="none" strike="noStrike" cap="none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157146" y="2183955"/>
            <a:ext cx="243840" cy="254000"/>
          </a:xfrm>
          <a:prstGeom prst="roundRect">
            <a:avLst>
              <a:gd name="adj" fmla="val 16667"/>
            </a:avLst>
          </a:prstGeom>
          <a:solidFill>
            <a:srgbClr val="BD1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73929" y="2750765"/>
            <a:ext cx="243840" cy="254000"/>
          </a:xfrm>
          <a:prstGeom prst="roundRect">
            <a:avLst>
              <a:gd name="adj" fmla="val 16667"/>
            </a:avLst>
          </a:prstGeom>
          <a:solidFill>
            <a:srgbClr val="E386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173929" y="3346013"/>
            <a:ext cx="243840" cy="254000"/>
          </a:xfrm>
          <a:prstGeom prst="roundRect">
            <a:avLst>
              <a:gd name="adj" fmla="val 16667"/>
            </a:avLst>
          </a:prstGeom>
          <a:solidFill>
            <a:srgbClr val="B4C9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581937" y="2080122"/>
            <a:ext cx="204747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1D3678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 sz="1600" b="0" i="0" u="none" strike="noStrike" cap="none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4581937" y="2646932"/>
            <a:ext cx="18338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1D3678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sz="1600" b="0" i="0" u="none" strike="noStrike" cap="none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1839416" y="814399"/>
            <a:ext cx="1039368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en-GB" sz="1900" b="1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The Network of Dutch Bioinformatics and Systems Biology research groups</a:t>
            </a:r>
            <a:r>
              <a:rPr lang="en-GB" sz="2800" b="1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3200" b="1" i="0" u="none" strike="noStrike" cap="none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4581937" y="3239637"/>
            <a:ext cx="275036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1D3678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endParaRPr sz="2000" b="1" i="0" u="none" strike="noStrike" cap="none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5"/>
          <p:cNvGrpSpPr/>
          <p:nvPr/>
        </p:nvGrpSpPr>
        <p:grpSpPr>
          <a:xfrm>
            <a:off x="7245214" y="1490252"/>
            <a:ext cx="5256821" cy="5401479"/>
            <a:chOff x="7332304" y="1490252"/>
            <a:chExt cx="5256821" cy="5401479"/>
          </a:xfrm>
        </p:grpSpPr>
        <p:sp>
          <p:nvSpPr>
            <p:cNvPr id="137" name="Google Shape;137;p5"/>
            <p:cNvSpPr txBox="1"/>
            <p:nvPr/>
          </p:nvSpPr>
          <p:spPr>
            <a:xfrm>
              <a:off x="7332304" y="1490252"/>
              <a:ext cx="5256821" cy="5401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215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urier New"/>
                <a:buNone/>
              </a:pPr>
              <a:endParaRPr sz="2000" b="0" i="0" u="none" strike="noStrike" cap="none" dirty="0">
                <a:solidFill>
                  <a:srgbClr val="1D367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1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Dynamic </a:t>
              </a:r>
              <a:r>
                <a:rPr lang="en-GB" sz="1600" b="1" i="0" u="none" strike="noStrike" cap="none" dirty="0" err="1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Modeling</a:t>
              </a:r>
              <a:r>
                <a:rPr lang="en-GB" sz="1600" b="1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 in Systems Biology (F) </a:t>
              </a:r>
              <a:endParaRPr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Machine Learning  (F)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Advanced Machine Learning and AI for Life Sciences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Algorithms for Biomolecular Networks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Algorithms for Genomics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Bulk and Single-Cell RNA-seq Data Analysis (A)</a:t>
              </a:r>
              <a:endParaRPr sz="1600" b="0" i="0" u="none" strike="noStrike" cap="none" dirty="0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1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Computational Metagenomics (A)</a:t>
              </a:r>
              <a:endParaRPr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1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Constraint-Based Modelling (A)</a:t>
              </a:r>
              <a:endParaRPr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Knowledge Graphs in the Life Sciences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Multi-Omics and Data Sciences in Complex Diseases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Spatial Omics Analysis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Statistics for Omics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32000" marR="0" lvl="0" indent="-34290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Systems Medicine (A)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215900" algn="just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urier New"/>
                <a:buNone/>
              </a:pPr>
              <a:endParaRPr sz="2000" b="0" i="0" u="none" strike="noStrike" cap="none" dirty="0">
                <a:solidFill>
                  <a:srgbClr val="1D367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7470190" y="1653953"/>
              <a:ext cx="170688" cy="177800"/>
            </a:xfrm>
            <a:prstGeom prst="roundRect">
              <a:avLst>
                <a:gd name="adj" fmla="val 16667"/>
              </a:avLst>
            </a:prstGeom>
            <a:solidFill>
              <a:srgbClr val="BD11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5"/>
          <p:cNvGrpSpPr/>
          <p:nvPr/>
        </p:nvGrpSpPr>
        <p:grpSpPr>
          <a:xfrm>
            <a:off x="892686" y="4316856"/>
            <a:ext cx="6672391" cy="978883"/>
            <a:chOff x="484074" y="4311107"/>
            <a:chExt cx="6672391" cy="978883"/>
          </a:xfrm>
        </p:grpSpPr>
        <p:sp>
          <p:nvSpPr>
            <p:cNvPr id="140" name="Google Shape;140;p5"/>
            <p:cNvSpPr/>
            <p:nvPr/>
          </p:nvSpPr>
          <p:spPr>
            <a:xfrm>
              <a:off x="562477" y="4311107"/>
              <a:ext cx="170688" cy="177800"/>
            </a:xfrm>
            <a:prstGeom prst="roundRect">
              <a:avLst>
                <a:gd name="adj" fmla="val 16667"/>
              </a:avLst>
            </a:prstGeom>
            <a:solidFill>
              <a:srgbClr val="E3862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484074" y="4366701"/>
              <a:ext cx="6672391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Annual 2-day conference: </a:t>
              </a:r>
              <a:r>
                <a:rPr lang="en-GB" sz="1800" b="1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BioSB 2027  11&amp;12 May, Baarlo</a:t>
              </a:r>
              <a:endParaRPr sz="1600" b="1" i="0" u="none" strike="noStrike" cap="none" dirty="0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800" b="0" i="0" u="none" strike="noStrike" cap="none" dirty="0" err="1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HotTopics</a:t>
              </a:r>
              <a:r>
                <a:rPr lang="en-GB" sz="18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: </a:t>
              </a:r>
              <a:r>
                <a:rPr lang="en-GB" sz="1800" b="1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Genomic Sequence Models, 10 Sept, Leiden</a:t>
              </a:r>
              <a:endParaRPr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5"/>
          <p:cNvGrpSpPr/>
          <p:nvPr/>
        </p:nvGrpSpPr>
        <p:grpSpPr>
          <a:xfrm>
            <a:off x="910194" y="5409531"/>
            <a:ext cx="6672391" cy="909460"/>
            <a:chOff x="910194" y="5523831"/>
            <a:chExt cx="6672391" cy="909460"/>
          </a:xfrm>
        </p:grpSpPr>
        <p:sp>
          <p:nvSpPr>
            <p:cNvPr id="143" name="Google Shape;143;p5"/>
            <p:cNvSpPr/>
            <p:nvPr/>
          </p:nvSpPr>
          <p:spPr>
            <a:xfrm>
              <a:off x="971089" y="5523831"/>
              <a:ext cx="170688" cy="177800"/>
            </a:xfrm>
            <a:prstGeom prst="roundRect">
              <a:avLst>
                <a:gd name="adj" fmla="val 16667"/>
              </a:avLst>
            </a:prstGeom>
            <a:solidFill>
              <a:srgbClr val="B4C9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910194" y="5602335"/>
              <a:ext cx="6672391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In collaboration with NWO RC-5, Health-RI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marR="0" lvl="0" indent="-2857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3678"/>
                </a:buClr>
                <a:buSzPts val="1600"/>
                <a:buFont typeface="Courier New"/>
                <a:buChar char="o"/>
              </a:pPr>
              <a:r>
                <a:rPr lang="en-GB" sz="1600" b="0" i="0" u="none" strike="noStrike" cap="none" dirty="0">
                  <a:solidFill>
                    <a:srgbClr val="1D3678"/>
                  </a:solidFill>
                  <a:latin typeface="Open Sans"/>
                  <a:ea typeface="Open Sans"/>
                  <a:cs typeface="Open Sans"/>
                  <a:sym typeface="Open Sans"/>
                </a:rPr>
                <a:t>BioSB Faculty Group: experts from the field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5"/>
          <p:cNvSpPr txBox="1"/>
          <p:nvPr/>
        </p:nvSpPr>
        <p:spPr>
          <a:xfrm>
            <a:off x="8384117" y="58988"/>
            <a:ext cx="62526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https://www.dtls.nl/biosb/courses/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4417724" y="1759310"/>
            <a:ext cx="697057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Do you want to know more?		</a:t>
            </a:r>
            <a:endParaRPr sz="3200" b="1" i="0" u="none" strike="noStrike" cap="none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581559" y="5164320"/>
            <a:ext cx="939698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…. or contact the community manager: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     biosb-education@googlegroups.com</a:t>
            </a:r>
            <a:r>
              <a:rPr lang="en-GB" sz="2800" b="1" i="0" u="none" strike="noStrike" cap="none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3200" b="1" i="0" u="none" strike="noStrike" cap="none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703" y="1739105"/>
            <a:ext cx="2750367" cy="244526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654074" y="473859"/>
            <a:ext cx="1111232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 dirty="0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BioSB - </a:t>
            </a:r>
            <a:r>
              <a:rPr lang="en-GB" sz="2800" b="1" i="0" u="none" strike="noStrike" cap="none" dirty="0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Bioinformatics and Systems Biology research school		</a:t>
            </a:r>
            <a:endParaRPr sz="3200" b="1" i="0" u="none" strike="noStrike" cap="none" dirty="0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9370" y="2434930"/>
            <a:ext cx="2383343" cy="2576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p6">
            <a:extLst>
              <a:ext uri="{FF2B5EF4-FFF2-40B4-BE49-F238E27FC236}">
                <a16:creationId xmlns:a16="http://schemas.microsoft.com/office/drawing/2014/main" id="{8087E07C-B14A-0F25-90AD-A065F6639631}"/>
              </a:ext>
            </a:extLst>
          </p:cNvPr>
          <p:cNvSpPr txBox="1"/>
          <p:nvPr/>
        </p:nvSpPr>
        <p:spPr>
          <a:xfrm>
            <a:off x="654074" y="473859"/>
            <a:ext cx="1111232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 dirty="0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BioSB Summer School: some practical matters</a:t>
            </a:r>
            <a:r>
              <a:rPr lang="en-GB" sz="2800" b="1" i="0" u="none" strike="noStrike" cap="none" dirty="0">
                <a:solidFill>
                  <a:srgbClr val="1D3678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endParaRPr sz="3200" b="1" i="0" u="none" strike="noStrike" cap="none" dirty="0">
              <a:solidFill>
                <a:srgbClr val="1D36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1;p5">
            <a:extLst>
              <a:ext uri="{FF2B5EF4-FFF2-40B4-BE49-F238E27FC236}">
                <a16:creationId xmlns:a16="http://schemas.microsoft.com/office/drawing/2014/main" id="{B32C94A6-AEFC-9A4A-FB98-A7030CB80EFD}"/>
              </a:ext>
            </a:extLst>
          </p:cNvPr>
          <p:cNvSpPr txBox="1"/>
          <p:nvPr/>
        </p:nvSpPr>
        <p:spPr>
          <a:xfrm>
            <a:off x="723352" y="1349850"/>
            <a:ext cx="9766848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3678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Poster sessions</a:t>
            </a:r>
            <a:r>
              <a:rPr lang="en-GB" sz="1800" dirty="0"/>
              <a:t>: Monday and Tuesday, 17:00-18:30, 7 posters each, room </a:t>
            </a:r>
            <a:r>
              <a:rPr lang="en-GB" sz="1800" i="1" dirty="0"/>
              <a:t>‘Water’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3678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800" dirty="0"/>
              <a:t>Pub quiz: Tuesday, 20:00 - …,  room </a:t>
            </a:r>
            <a:r>
              <a:rPr lang="en-GB" sz="1800" i="1" dirty="0"/>
              <a:t>‘Fire 2’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3678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80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Outdoor activity: Wednesday, 17:00-19:00, mountain biking/climbing/guided walk</a:t>
            </a:r>
            <a:endParaRPr lang="en-GB" sz="18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3678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800" dirty="0"/>
              <a:t>De Werelt: swimming pool, sauna, cinema, forest all around, ...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3678"/>
              </a:buClr>
              <a:buSzPts val="1600"/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3678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800" dirty="0"/>
              <a:t>Evaluation form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3678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800"/>
              <a:t>Certificate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653509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323</Words>
  <Application>Microsoft Office PowerPoint</Application>
  <PresentationFormat>Widescreen</PresentationFormat>
  <Paragraphs>43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Open Sans</vt:lpstr>
      <vt:lpstr>Play</vt:lpstr>
      <vt:lpstr>Noto Sans Symbols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Petra Aarnoutse (Health-RI)</dc:creator>
  <cp:lastModifiedBy>Moerland, P.D. (Perry)</cp:lastModifiedBy>
  <cp:revision>4</cp:revision>
  <dcterms:created xsi:type="dcterms:W3CDTF">2025-10-02T18:28:24Z</dcterms:created>
  <dcterms:modified xsi:type="dcterms:W3CDTF">2026-08-24T06:02:49Z</dcterms:modified>
</cp:coreProperties>
</file>